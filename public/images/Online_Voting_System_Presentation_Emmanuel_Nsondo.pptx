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63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5" d="100"/>
          <a:sy n="65" d="100"/>
        </p:scale>
        <p:origin x="77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FE947-B33C-4186-A5BA-4B294B3EBFDA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E7C98E9D-780C-450D-A9CF-7090905DF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338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FE947-B33C-4186-A5BA-4B294B3EBFDA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98E9D-780C-450D-A9CF-7090905DF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593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FE947-B33C-4186-A5BA-4B294B3EBFDA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7C98E9D-780C-450D-A9CF-7090905DF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069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FE947-B33C-4186-A5BA-4B294B3EBFDA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7C98E9D-780C-450D-A9CF-7090905DF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784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FE947-B33C-4186-A5BA-4B294B3EBFDA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7C98E9D-780C-450D-A9CF-7090905DF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792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FE947-B33C-4186-A5BA-4B294B3EBFDA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98E9D-780C-450D-A9CF-7090905DF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542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FE947-B33C-4186-A5BA-4B294B3EBFDA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98E9D-780C-450D-A9CF-7090905DF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410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FE947-B33C-4186-A5BA-4B294B3EBFDA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98E9D-780C-450D-A9CF-7090905DF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528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FE947-B33C-4186-A5BA-4B294B3EBFDA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7C98E9D-780C-450D-A9CF-7090905DF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037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FE947-B33C-4186-A5BA-4B294B3EBFDA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7C98E9D-780C-450D-A9CF-7090905DF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20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FE947-B33C-4186-A5BA-4B294B3EBFDA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7C98E9D-780C-450D-A9CF-7090905DFD6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727170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FE947-B33C-4186-A5BA-4B294B3EBFDA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7C98E9D-780C-450D-A9CF-7090905DF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509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FE947-B33C-4186-A5BA-4B294B3EBFDA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7C98E9D-780C-450D-A9CF-7090905DFD6B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982165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FE947-B33C-4186-A5BA-4B294B3EBFDA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7C98E9D-780C-450D-A9CF-7090905DF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7711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FE947-B33C-4186-A5BA-4B294B3EBFDA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98E9D-780C-450D-A9CF-7090905DF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8851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FE947-B33C-4186-A5BA-4B294B3EBFDA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98E9D-780C-450D-A9CF-7090905DF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24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5FE947-B33C-4186-A5BA-4B294B3EBFDA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E7C98E9D-780C-450D-A9CF-7090905DF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897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0425" y="2476500"/>
            <a:ext cx="8915399" cy="2262781"/>
          </a:xfrm>
        </p:spPr>
        <p:txBody>
          <a:bodyPr>
            <a:normAutofit/>
          </a:bodyPr>
          <a:lstStyle/>
          <a:p>
            <a:r>
              <a:rPr dirty="0"/>
              <a:t>Project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0424" y="4739281"/>
            <a:ext cx="8915399" cy="1573029"/>
          </a:xfrm>
        </p:spPr>
        <p:txBody>
          <a:bodyPr>
            <a:normAutofit fontScale="92500" lnSpcReduction="10000"/>
          </a:bodyPr>
          <a:lstStyle/>
          <a:p>
            <a:r>
              <a:rPr sz="2900" b="1" dirty="0"/>
              <a:t>Online Voting System</a:t>
            </a:r>
          </a:p>
          <a:p>
            <a:endParaRPr dirty="0"/>
          </a:p>
          <a:p>
            <a:r>
              <a:rPr b="1" dirty="0"/>
              <a:t>Presented by</a:t>
            </a:r>
            <a:r>
              <a:rPr dirty="0"/>
              <a:t>: Emmanuel Nsondo</a:t>
            </a:r>
          </a:p>
          <a:p>
            <a:r>
              <a:rPr dirty="0"/>
              <a:t>Diploma in Computer Systems Engineering</a:t>
            </a:r>
          </a:p>
        </p:txBody>
      </p:sp>
      <p:pic>
        <p:nvPicPr>
          <p:cNvPr id="6" name="Picture 5" descr="C:\Users\User\AppData\Local\Temp\{8BCB1887-27A1-4C63-B02A-FE6C4BA3A1AB}.tmp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5324" y="209698"/>
            <a:ext cx="1506176" cy="102475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Group 11"/>
          <p:cNvGrpSpPr/>
          <p:nvPr/>
        </p:nvGrpSpPr>
        <p:grpSpPr>
          <a:xfrm>
            <a:off x="346075" y="167805"/>
            <a:ext cx="6432649" cy="1066652"/>
            <a:chOff x="0" y="0"/>
            <a:chExt cx="8220075" cy="785572"/>
          </a:xfrm>
        </p:grpSpPr>
        <p:sp>
          <p:nvSpPr>
            <p:cNvPr id="13" name="Rectangle 12"/>
            <p:cNvSpPr/>
            <p:nvPr/>
          </p:nvSpPr>
          <p:spPr>
            <a:xfrm>
              <a:off x="4067810" y="387223"/>
              <a:ext cx="42143" cy="189937"/>
            </a:xfrm>
            <a:prstGeom prst="rect">
              <a:avLst/>
            </a:prstGeom>
            <a:ln>
              <a:noFill/>
            </a:ln>
          </p:spPr>
          <p:txBody>
            <a:bodyPr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099814" y="387223"/>
              <a:ext cx="42143" cy="189937"/>
            </a:xfrm>
            <a:prstGeom prst="rect">
              <a:avLst/>
            </a:prstGeom>
            <a:ln>
              <a:noFill/>
            </a:ln>
          </p:spPr>
          <p:txBody>
            <a:bodyPr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4067810" y="582880"/>
              <a:ext cx="44592" cy="202692"/>
            </a:xfrm>
            <a:prstGeom prst="rect">
              <a:avLst/>
            </a:prstGeom>
            <a:ln>
              <a:noFill/>
            </a:ln>
          </p:spPr>
          <p:txBody>
            <a:bodyPr lIns="0" tIns="0" rIns="0" bIns="0" rtlCol="0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100" b="1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Cambria" panose="02040503050406030204" pitchFamily="18" charset="0"/>
                </a:rPr>
                <a:t> 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pic>
          <p:nvPicPr>
            <p:cNvPr id="16" name="Picture 15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8220075" cy="781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69451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9975" y="624110"/>
            <a:ext cx="8911687" cy="1280890"/>
          </a:xfrm>
        </p:spPr>
        <p:txBody>
          <a:bodyPr>
            <a:noAutofit/>
          </a:bodyPr>
          <a:lstStyle/>
          <a:p>
            <a:r>
              <a:rPr b="1" dirty="0"/>
              <a:t>Background Research of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8212" y="2133600"/>
            <a:ext cx="8915400" cy="3777622"/>
          </a:xfrm>
        </p:spPr>
        <p:txBody>
          <a:bodyPr>
            <a:normAutofit/>
          </a:bodyPr>
          <a:lstStyle/>
          <a:p>
            <a:r>
              <a:t>The advancement of technology has enabled automation in many sectors, including elections. Traditional manual voting systems are prone to errors, delays, and manipulation of results.</a:t>
            </a:r>
          </a:p>
          <a:p>
            <a:endParaRPr/>
          </a:p>
          <a:p>
            <a:r>
              <a:t>An online voting system allows registered voters to cast their votes securely through the internet, ensuring faster counting and reduced human interference.</a:t>
            </a:r>
          </a:p>
          <a:p>
            <a:endParaRPr/>
          </a:p>
          <a:p>
            <a:r>
              <a:t>This project aims to design and implement an efficient, secure, and user-friendly online voting platform that can be used for school elections and other small-scale voting exercises.</a:t>
            </a:r>
          </a:p>
        </p:txBody>
      </p:sp>
    </p:spTree>
    <p:extLst>
      <p:ext uri="{BB962C8B-B14F-4D97-AF65-F5344CB8AC3E}">
        <p14:creationId xmlns:p14="http://schemas.microsoft.com/office/powerpoint/2010/main" val="1579210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7712" y="624110"/>
            <a:ext cx="8911687" cy="1280890"/>
          </a:xfrm>
        </p:spPr>
        <p:txBody>
          <a:bodyPr>
            <a:normAutofit/>
          </a:bodyPr>
          <a:lstStyle/>
          <a:p>
            <a:r>
              <a:rPr b="1" dirty="0"/>
              <a:t>Society Problem Society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55812" y="1809750"/>
            <a:ext cx="8915400" cy="3777622"/>
          </a:xfrm>
        </p:spPr>
        <p:txBody>
          <a:bodyPr>
            <a:normAutofit lnSpcReduction="10000"/>
          </a:bodyPr>
          <a:lstStyle/>
          <a:p>
            <a:r>
              <a:rPr b="1" dirty="0"/>
              <a:t>Society Problem:</a:t>
            </a:r>
          </a:p>
          <a:p>
            <a:r>
              <a:rPr dirty="0"/>
              <a:t>- Manual voting is time-consuming and expensive.</a:t>
            </a:r>
          </a:p>
          <a:p>
            <a:r>
              <a:rPr dirty="0"/>
              <a:t>- Counting errors and ballot tampering reduce transparency.</a:t>
            </a:r>
          </a:p>
          <a:p>
            <a:r>
              <a:rPr dirty="0"/>
              <a:t>- Lack of accessibility for voters in remote areas.</a:t>
            </a:r>
          </a:p>
          <a:p>
            <a:endParaRPr dirty="0"/>
          </a:p>
          <a:p>
            <a:r>
              <a:rPr b="1" dirty="0"/>
              <a:t>Society Solution:</a:t>
            </a:r>
          </a:p>
          <a:p>
            <a:r>
              <a:rPr dirty="0"/>
              <a:t>- A digital voting platform that automates voter registration, voting, and results computation.</a:t>
            </a:r>
          </a:p>
          <a:p>
            <a:r>
              <a:rPr dirty="0"/>
              <a:t>- Reduces human involvement and enhances trust in election outcomes.</a:t>
            </a:r>
          </a:p>
          <a:p>
            <a:r>
              <a:rPr dirty="0"/>
              <a:t>- Increases participation through accessible, real-time voting.</a:t>
            </a:r>
          </a:p>
        </p:txBody>
      </p:sp>
    </p:spTree>
    <p:extLst>
      <p:ext uri="{BB962C8B-B14F-4D97-AF65-F5344CB8AC3E}">
        <p14:creationId xmlns:p14="http://schemas.microsoft.com/office/powerpoint/2010/main" val="2251822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4775" y="624110"/>
            <a:ext cx="8911687" cy="1280890"/>
          </a:xfrm>
        </p:spPr>
        <p:txBody>
          <a:bodyPr>
            <a:normAutofit/>
          </a:bodyPr>
          <a:lstStyle/>
          <a:p>
            <a:r>
              <a:rPr b="1" dirty="0"/>
              <a:t>Project Proposal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93912" y="1981200"/>
            <a:ext cx="8915400" cy="3777622"/>
          </a:xfrm>
        </p:spPr>
        <p:txBody>
          <a:bodyPr/>
          <a:lstStyle/>
          <a:p>
            <a:r>
              <a:t>The Online Voting System project focuses on the development of a web-based application that enables registered users to log in, cast votes, and view results.</a:t>
            </a:r>
          </a:p>
          <a:p>
            <a:endParaRPr/>
          </a:p>
          <a:p>
            <a:r>
              <a:t>The system will include two main modules:</a:t>
            </a:r>
          </a:p>
          <a:p>
            <a:r>
              <a:t>1. Administrator Module – manages voter registration, candidate details, and election setup.</a:t>
            </a:r>
          </a:p>
          <a:p>
            <a:r>
              <a:t>2. Voter Module – allows voters to securely log in and cast their votes.</a:t>
            </a:r>
          </a:p>
          <a:p>
            <a:endParaRPr/>
          </a:p>
          <a:p>
            <a:r>
              <a:t>The platform will ensure data confidentiality, integrity, and authentication using modern web technologies.</a:t>
            </a:r>
          </a:p>
        </p:txBody>
      </p:sp>
    </p:spTree>
    <p:extLst>
      <p:ext uri="{BB962C8B-B14F-4D97-AF65-F5344CB8AC3E}">
        <p14:creationId xmlns:p14="http://schemas.microsoft.com/office/powerpoint/2010/main" val="3995748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/>
              <a:t>Outline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This Project/System aims to</a:t>
            </a:r>
            <a:r>
              <a:rPr dirty="0"/>
              <a:t>:</a:t>
            </a:r>
          </a:p>
          <a:p>
            <a:r>
              <a:rPr dirty="0"/>
              <a:t>- Develop a secure web-based voting application using PHP and MySQL.</a:t>
            </a:r>
          </a:p>
          <a:p>
            <a:r>
              <a:rPr dirty="0"/>
              <a:t>- Ensure only registered users can vote once per election.</a:t>
            </a:r>
          </a:p>
          <a:p>
            <a:r>
              <a:rPr dirty="0"/>
              <a:t>- Provide real-time vote counting and result display.</a:t>
            </a:r>
          </a:p>
          <a:p>
            <a:r>
              <a:rPr dirty="0"/>
              <a:t>- Reduce the administrative cost and workload associated with manual elections.</a:t>
            </a:r>
          </a:p>
          <a:p>
            <a:r>
              <a:rPr dirty="0"/>
              <a:t>- Enhance accuracy, transparency, and voter convenience.</a:t>
            </a:r>
          </a:p>
        </p:txBody>
      </p:sp>
    </p:spTree>
    <p:extLst>
      <p:ext uri="{BB962C8B-B14F-4D97-AF65-F5344CB8AC3E}">
        <p14:creationId xmlns:p14="http://schemas.microsoft.com/office/powerpoint/2010/main" val="3657895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/>
              <a:t>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2925" y="1905000"/>
            <a:ext cx="8915400" cy="4584290"/>
          </a:xfrm>
        </p:spPr>
        <p:txBody>
          <a:bodyPr>
            <a:normAutofit fontScale="92500" lnSpcReduction="20000"/>
          </a:bodyPr>
          <a:lstStyle/>
          <a:p>
            <a:r>
              <a:rPr b="1" dirty="0"/>
              <a:t>Overview:</a:t>
            </a:r>
          </a:p>
          <a:p>
            <a:r>
              <a:rPr dirty="0"/>
              <a:t>The system uses a client-server model where users interact through a web browser connected to a central database.</a:t>
            </a:r>
          </a:p>
          <a:p>
            <a:endParaRPr dirty="0"/>
          </a:p>
          <a:p>
            <a:r>
              <a:rPr b="1" dirty="0"/>
              <a:t>Key Components:</a:t>
            </a:r>
          </a:p>
          <a:p>
            <a:r>
              <a:rPr dirty="0"/>
              <a:t>- Frontend: HTML and CSS for interface design.</a:t>
            </a:r>
          </a:p>
          <a:p>
            <a:r>
              <a:rPr dirty="0"/>
              <a:t>- Backend: PHP scripts to handle logic, authentication, and communication.</a:t>
            </a:r>
          </a:p>
          <a:p>
            <a:r>
              <a:rPr dirty="0"/>
              <a:t>- Database: MySQL to store user, candidate, and election data.</a:t>
            </a:r>
          </a:p>
          <a:p>
            <a:r>
              <a:rPr dirty="0"/>
              <a:t>- Server: XAMPP for local hosting and testing.</a:t>
            </a:r>
          </a:p>
          <a:p>
            <a:endParaRPr dirty="0"/>
          </a:p>
          <a:p>
            <a:r>
              <a:rPr b="1" dirty="0"/>
              <a:t>Modules:</a:t>
            </a:r>
          </a:p>
          <a:p>
            <a:r>
              <a:rPr dirty="0"/>
              <a:t>1. Admin Panel – manage voters, candidates, and view results.</a:t>
            </a:r>
          </a:p>
          <a:p>
            <a:r>
              <a:rPr dirty="0"/>
              <a:t>2. Voting Interface – allows users to cast their votes.</a:t>
            </a:r>
          </a:p>
          <a:p>
            <a:r>
              <a:rPr dirty="0"/>
              <a:t>3. Results Dashboard – displays live vote counts and winner announcements.</a:t>
            </a:r>
          </a:p>
        </p:txBody>
      </p:sp>
    </p:spTree>
    <p:extLst>
      <p:ext uri="{BB962C8B-B14F-4D97-AF65-F5344CB8AC3E}">
        <p14:creationId xmlns:p14="http://schemas.microsoft.com/office/powerpoint/2010/main" val="3265998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/>
              <a:t>Database Design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b="1" dirty="0"/>
              <a:t>Database Tables:</a:t>
            </a:r>
          </a:p>
          <a:p>
            <a:r>
              <a:rPr dirty="0"/>
              <a:t>- Voters Table: stores voter ID, name, and login details.</a:t>
            </a:r>
          </a:p>
          <a:p>
            <a:r>
              <a:rPr dirty="0"/>
              <a:t>- Candidates Table: holds candidate names, positions, and vote counts.</a:t>
            </a:r>
          </a:p>
          <a:p>
            <a:r>
              <a:rPr dirty="0"/>
              <a:t>- Votes Table: records which voter voted for which candidate.</a:t>
            </a:r>
          </a:p>
          <a:p>
            <a:r>
              <a:rPr dirty="0"/>
              <a:t>- Admin Table: stores administrator credentials and privileges.</a:t>
            </a:r>
          </a:p>
          <a:p>
            <a:endParaRPr dirty="0"/>
          </a:p>
          <a:p>
            <a:r>
              <a:rPr b="1" dirty="0"/>
              <a:t>Interfaces:</a:t>
            </a:r>
          </a:p>
          <a:p>
            <a:r>
              <a:rPr dirty="0"/>
              <a:t>- Login Page (for both admin and voters)</a:t>
            </a:r>
          </a:p>
          <a:p>
            <a:r>
              <a:rPr dirty="0"/>
              <a:t>- Dashboard (for admin operations)</a:t>
            </a:r>
          </a:p>
          <a:p>
            <a:r>
              <a:rPr dirty="0"/>
              <a:t>- Voting Page (for casting votes)</a:t>
            </a:r>
          </a:p>
          <a:p>
            <a:r>
              <a:rPr dirty="0"/>
              <a:t>- Results Page (for displaying outcomes).</a:t>
            </a:r>
          </a:p>
        </p:txBody>
      </p:sp>
    </p:spTree>
    <p:extLst>
      <p:ext uri="{BB962C8B-B14F-4D97-AF65-F5344CB8AC3E}">
        <p14:creationId xmlns:p14="http://schemas.microsoft.com/office/powerpoint/2010/main" val="147124491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35</TotalTime>
  <Words>535</Words>
  <Application>Microsoft Office PowerPoint</Application>
  <PresentationFormat>Widescreen</PresentationFormat>
  <Paragraphs>65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Cambria</vt:lpstr>
      <vt:lpstr>Century Gothic</vt:lpstr>
      <vt:lpstr>Wingdings 3</vt:lpstr>
      <vt:lpstr>Wisp</vt:lpstr>
      <vt:lpstr>Project Title</vt:lpstr>
      <vt:lpstr>Background Research of Project</vt:lpstr>
      <vt:lpstr>Society Problem Society Solution</vt:lpstr>
      <vt:lpstr>Project Proposal Summary</vt:lpstr>
      <vt:lpstr>Outline Objects</vt:lpstr>
      <vt:lpstr>System Design</vt:lpstr>
      <vt:lpstr>Database Design Interface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Title:</dc:title>
  <dc:creator>User</dc:creator>
  <cp:lastModifiedBy>Immanuel Nsondo</cp:lastModifiedBy>
  <cp:revision>5</cp:revision>
  <dcterms:created xsi:type="dcterms:W3CDTF">2025-10-10T06:52:47Z</dcterms:created>
  <dcterms:modified xsi:type="dcterms:W3CDTF">2025-10-16T06:45:12Z</dcterms:modified>
</cp:coreProperties>
</file>